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Condensed Bold" charset="1" panose="02000000000000000000"/>
      <p:regular r:id="rId16"/>
    </p:embeddedFont>
    <p:embeddedFont>
      <p:font typeface="Roboto Condensed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13597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3"/>
                </a:lnTo>
                <a:lnTo>
                  <a:pt x="0" y="327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638126" y="0"/>
            <a:ext cx="9649874" cy="1254484"/>
          </a:xfrm>
          <a:custGeom>
            <a:avLst/>
            <a:gdLst/>
            <a:ahLst/>
            <a:cxnLst/>
            <a:rect r="r" b="b" t="t" l="l"/>
            <a:pathLst>
              <a:path h="1254484" w="9649874">
                <a:moveTo>
                  <a:pt x="9649874" y="0"/>
                </a:moveTo>
                <a:lnTo>
                  <a:pt x="0" y="0"/>
                </a:lnTo>
                <a:lnTo>
                  <a:pt x="0" y="1254484"/>
                </a:lnTo>
                <a:lnTo>
                  <a:pt x="9649874" y="1254484"/>
                </a:lnTo>
                <a:lnTo>
                  <a:pt x="96498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440305"/>
            <a:ext cx="9544266" cy="842510"/>
            <a:chOff x="0" y="0"/>
            <a:chExt cx="2513716" cy="2218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13716" cy="221896"/>
            </a:xfrm>
            <a:custGeom>
              <a:avLst/>
              <a:gdLst/>
              <a:ahLst/>
              <a:cxnLst/>
              <a:rect r="r" b="b" t="t" l="l"/>
              <a:pathLst>
                <a:path h="221896" w="2513716">
                  <a:moveTo>
                    <a:pt x="231051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513716" y="221896"/>
                  </a:lnTo>
                  <a:lnTo>
                    <a:pt x="2310516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231051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5846" y="570092"/>
            <a:ext cx="8301748" cy="500151"/>
            <a:chOff x="0" y="0"/>
            <a:chExt cx="3683131" cy="221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3131" cy="221896"/>
            </a:xfrm>
            <a:custGeom>
              <a:avLst/>
              <a:gdLst/>
              <a:ahLst/>
              <a:cxnLst/>
              <a:rect r="r" b="b" t="t" l="l"/>
              <a:pathLst>
                <a:path h="221896" w="3683131">
                  <a:moveTo>
                    <a:pt x="3479931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683131" y="221896"/>
                  </a:lnTo>
                  <a:lnTo>
                    <a:pt x="3479931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3479931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405520" y="2124371"/>
            <a:ext cx="7133929" cy="7133929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2870" y="638810"/>
              <a:ext cx="6149340" cy="5613400"/>
            </a:xfrm>
            <a:custGeom>
              <a:avLst/>
              <a:gdLst/>
              <a:ahLst/>
              <a:cxnLst/>
              <a:rect r="r" b="b" t="t" l="l"/>
              <a:pathLst>
                <a:path h="5613400" w="6149340">
                  <a:moveTo>
                    <a:pt x="6149340" y="5613400"/>
                  </a:moveTo>
                  <a:lnTo>
                    <a:pt x="0" y="56134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5613400"/>
                  </a:lnTo>
                  <a:lnTo>
                    <a:pt x="6149340" y="5613400"/>
                  </a:lnTo>
                  <a:close/>
                </a:path>
              </a:pathLst>
            </a:custGeom>
            <a:blipFill>
              <a:blip r:embed="rId6"/>
              <a:stretch>
                <a:fillRect l="-29898" t="0" r="-29898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2870" y="105410"/>
              <a:ext cx="6149340" cy="431800"/>
            </a:xfrm>
            <a:custGeom>
              <a:avLst/>
              <a:gdLst/>
              <a:ahLst/>
              <a:cxnLst/>
              <a:rect r="r" b="b" t="t" l="l"/>
              <a:pathLst>
                <a:path h="431800" w="614934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2870" y="10541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270" y="3810"/>
              <a:ext cx="63525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254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12366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36847" y="2114846"/>
            <a:ext cx="9399747" cy="625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9"/>
              </a:lnSpc>
            </a:pPr>
            <a:r>
              <a:rPr lang="en-US" b="true" sz="102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FULL STACK WEB DEVELOPMENT (FROM ZERO </a:t>
            </a:r>
          </a:p>
          <a:p>
            <a:pPr algn="ctr">
              <a:lnSpc>
                <a:spcPts val="12359"/>
              </a:lnSpc>
            </a:pPr>
            <a:r>
              <a:rPr lang="en-US" b="true" sz="10299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 HERO 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16144" y="10029825"/>
            <a:ext cx="2791207" cy="842510"/>
            <a:chOff x="0" y="0"/>
            <a:chExt cx="735133" cy="221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5133" cy="221896"/>
            </a:xfrm>
            <a:custGeom>
              <a:avLst/>
              <a:gdLst/>
              <a:ahLst/>
              <a:cxnLst/>
              <a:rect r="r" b="b" t="t" l="l"/>
              <a:pathLst>
                <a:path h="221896" w="735133">
                  <a:moveTo>
                    <a:pt x="531933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735133" y="221896"/>
                  </a:lnTo>
                  <a:lnTo>
                    <a:pt x="531933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531933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5442509" y="-105009"/>
            <a:ext cx="16912758" cy="1557251"/>
            <a:chOff x="0" y="0"/>
            <a:chExt cx="2409929" cy="221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1683" y="800133"/>
            <a:ext cx="20455323" cy="8229600"/>
            <a:chOff x="0" y="0"/>
            <a:chExt cx="538741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87410" cy="2167467"/>
            </a:xfrm>
            <a:custGeom>
              <a:avLst/>
              <a:gdLst/>
              <a:ahLst/>
              <a:cxnLst/>
              <a:rect r="r" b="b" t="t" l="l"/>
              <a:pathLst>
                <a:path h="2167467" w="5387410">
                  <a:moveTo>
                    <a:pt x="0" y="0"/>
                  </a:moveTo>
                  <a:lnTo>
                    <a:pt x="5387410" y="0"/>
                  </a:lnTo>
                  <a:lnTo>
                    <a:pt x="538741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87410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8973545" y="-6577070"/>
            <a:ext cx="16912758" cy="1557251"/>
            <a:chOff x="0" y="0"/>
            <a:chExt cx="2409929" cy="221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1448538" y="344753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4"/>
                </a:lnTo>
                <a:lnTo>
                  <a:pt x="0" y="327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30468" y="81915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5400000">
            <a:off x="-8206305" y="-6799824"/>
            <a:ext cx="16912758" cy="1557251"/>
            <a:chOff x="0" y="0"/>
            <a:chExt cx="2409929" cy="221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676892"/>
            <a:ext cx="5435051" cy="98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WHO AM I?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114441"/>
            <a:ext cx="14216445" cy="426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Hi, I'm Bilal Ahmad, your instructor. With 5+ years of hands-on experience in web development and a strong foundation in computer science, I'm passionate about empowering the next generation of creative web developers. My expertise spans the MERN stack, JavaScript, Python, and beyond. I've worked on real-world projects, including AI-powered websites and full-stack applications. Throughout our journey together, I'll share my knowledge and industry insights to help you become a confident and innovative web developer.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Linkin</a:t>
            </a: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https://www.linkedin.com/in/codeskd/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</a:t>
            </a: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https://github.com/Billal-Ahmed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724900"/>
            <a:ext cx="10343453" cy="53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Web: React JS + Node JS + MySQL/MongoDb + git/github ....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047897"/>
            <a:ext cx="9911301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Technologies That Im working on currently: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191691"/>
            <a:ext cx="11393119" cy="52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AI/ML: Python + Flask + Ollama + Streamlit + Open LLMs + RAG ....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448538" y="344753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4"/>
                </a:lnTo>
                <a:lnTo>
                  <a:pt x="0" y="327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448" y="544507"/>
            <a:ext cx="13108770" cy="189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COURSE OUTLINE</a:t>
            </a:r>
          </a:p>
          <a:p>
            <a:pPr algn="l">
              <a:lnSpc>
                <a:spcPts val="74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283228"/>
            <a:ext cx="137686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691480"/>
            <a:ext cx="1376867" cy="73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781507"/>
            <a:ext cx="137686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537" y="2281221"/>
            <a:ext cx="6335568" cy="180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Introduction to Web Development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762934"/>
            <a:ext cx="6091130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Back-end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1537" y="4776589"/>
            <a:ext cx="6091130" cy="120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Front-end Development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41537" y="3857516"/>
            <a:ext cx="6091130" cy="93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Fundamentals and Terminologies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377105" y="3210498"/>
            <a:ext cx="5675035" cy="172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6909" indent="-402303" lvl="2">
              <a:lnSpc>
                <a:spcPts val="3354"/>
              </a:lnSpc>
              <a:buFont typeface="Arial"/>
              <a:buChar char="⚬"/>
            </a:pPr>
            <a:r>
              <a:rPr lang="en-US" sz="279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Databases (e.g., MongoDB, MySQL)</a:t>
            </a:r>
          </a:p>
          <a:p>
            <a:pPr algn="l" marL="1206909" indent="-402303" lvl="2">
              <a:lnSpc>
                <a:spcPts val="3354"/>
              </a:lnSpc>
              <a:buFont typeface="Arial"/>
              <a:buChar char="⚬"/>
            </a:pPr>
            <a:r>
              <a:rPr lang="en-US" sz="279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3</a:t>
            </a:r>
          </a:p>
          <a:p>
            <a:pPr algn="l">
              <a:lnSpc>
                <a:spcPts val="335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38704" y="5495882"/>
            <a:ext cx="6091130" cy="367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CSS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Liberaries (tailwind , bootstrap)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JavaScript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1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ReactJS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2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8194919" y="-5772651"/>
            <a:ext cx="16912758" cy="1557251"/>
            <a:chOff x="0" y="0"/>
            <a:chExt cx="2409929" cy="221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88138" y="5138572"/>
            <a:ext cx="6598564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How Many Websites Are There?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6601" y="5005189"/>
            <a:ext cx="1376867" cy="73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88138" y="6205405"/>
            <a:ext cx="6091130" cy="230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 1.1 billion websites exist today.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Millions are created each year.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web is growing fast — this means opportunity for developers like you.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26533" y="9348771"/>
            <a:ext cx="6091130" cy="139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NodeJS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ExpressJS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669750" y="2139796"/>
            <a:ext cx="6598564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Data Storage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46601" y="2068342"/>
            <a:ext cx="1376867" cy="73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448538" y="3447538"/>
            <a:ext cx="10405520" cy="3273403"/>
          </a:xfrm>
          <a:custGeom>
            <a:avLst/>
            <a:gdLst/>
            <a:ahLst/>
            <a:cxnLst/>
            <a:rect r="r" b="b" t="t" l="l"/>
            <a:pathLst>
              <a:path h="3273403" w="10405520">
                <a:moveTo>
                  <a:pt x="0" y="0"/>
                </a:moveTo>
                <a:lnTo>
                  <a:pt x="10405520" y="0"/>
                </a:lnTo>
                <a:lnTo>
                  <a:pt x="10405520" y="3273404"/>
                </a:lnTo>
                <a:lnTo>
                  <a:pt x="0" y="3273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448" y="544507"/>
            <a:ext cx="13108770" cy="95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TERMINOLOGIES AND FUNDAMENTALS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283228"/>
            <a:ext cx="137686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1930" y="1818763"/>
            <a:ext cx="1376867" cy="73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098652"/>
            <a:ext cx="137686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1537" y="2262171"/>
            <a:ext cx="3914343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Is the Web?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23467" y="1841043"/>
            <a:ext cx="6091130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Why Do We Need Websites?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1537" y="6120932"/>
            <a:ext cx="4606300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What Is the Internet?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3881" y="3111903"/>
            <a:ext cx="6091130" cy="139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Web is a global network of websites that allows people to access and share information online.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8277" y="2709367"/>
            <a:ext cx="6091130" cy="50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communicate (news, blogs, articles)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sell (e-commerce like Daraz, Amazon)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educate (like YouTube, Khan Academy)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showcase work (portfolios for freelancers)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automate (chatbots, online forms, booking systems)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63881" y="6813027"/>
            <a:ext cx="6091130" cy="139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Internet is the physical network (servers, cables, satellites) that connects computers.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8194919" y="-5772651"/>
            <a:ext cx="16912758" cy="1557251"/>
            <a:chOff x="0" y="0"/>
            <a:chExt cx="2409929" cy="221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3881" y="4593603"/>
            <a:ext cx="6091130" cy="139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includes everything from blogs, stores, social media, portfolios, online tools, and more.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881" y="8494190"/>
            <a:ext cx="6091130" cy="18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Analogy: The Internet is the road, and the Web is the cars moving on it (websites).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923467" y="7538262"/>
            <a:ext cx="6598564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How Many Websites Are There?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81930" y="7404879"/>
            <a:ext cx="1376867" cy="73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671B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3467" y="8221327"/>
            <a:ext cx="6091130" cy="230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 1.1 billion websites exist today.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Millions are created each year.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web is growing fast — this means opportunity for developers like you.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1683" y="1710075"/>
            <a:ext cx="11385734" cy="7548225"/>
            <a:chOff x="0" y="0"/>
            <a:chExt cx="2998712" cy="198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8712" cy="1988010"/>
            </a:xfrm>
            <a:custGeom>
              <a:avLst/>
              <a:gdLst/>
              <a:ahLst/>
              <a:cxnLst/>
              <a:rect r="r" b="b" t="t" l="l"/>
              <a:pathLst>
                <a:path h="1988010" w="2998712">
                  <a:moveTo>
                    <a:pt x="0" y="0"/>
                  </a:moveTo>
                  <a:lnTo>
                    <a:pt x="2998712" y="0"/>
                  </a:lnTo>
                  <a:lnTo>
                    <a:pt x="2998712" y="1988010"/>
                  </a:lnTo>
                  <a:lnTo>
                    <a:pt x="0" y="198801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98712" cy="202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25316" y="1028700"/>
            <a:ext cx="5633984" cy="8229600"/>
            <a:chOff x="0" y="0"/>
            <a:chExt cx="434721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721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34721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blipFill>
              <a:blip r:embed="rId2"/>
              <a:stretch>
                <a:fillRect l="-59621" t="0" r="-119782" b="-2744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985929" y="-9197016"/>
            <a:ext cx="16912758" cy="5633984"/>
            <a:chOff x="0" y="0"/>
            <a:chExt cx="2409929" cy="8027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9910426" y="-1257455"/>
            <a:ext cx="3429780" cy="1142530"/>
            <a:chOff x="0" y="0"/>
            <a:chExt cx="2409929" cy="8027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4759515" y="3480538"/>
            <a:ext cx="7056969" cy="1142530"/>
            <a:chOff x="0" y="0"/>
            <a:chExt cx="4958567" cy="8027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8567" cy="802796"/>
            </a:xfrm>
            <a:custGeom>
              <a:avLst/>
              <a:gdLst/>
              <a:ahLst/>
              <a:cxnLst/>
              <a:rect r="r" b="b" t="t" l="l"/>
              <a:pathLst>
                <a:path h="802796" w="4958567">
                  <a:moveTo>
                    <a:pt x="47553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4958567" y="802796"/>
                  </a:lnTo>
                  <a:lnTo>
                    <a:pt x="4755367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47553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15688430" y="9903486"/>
            <a:ext cx="5199141" cy="1142530"/>
            <a:chOff x="0" y="0"/>
            <a:chExt cx="3653167" cy="8027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3167" cy="802796"/>
            </a:xfrm>
            <a:custGeom>
              <a:avLst/>
              <a:gdLst/>
              <a:ahLst/>
              <a:cxnLst/>
              <a:rect r="r" b="b" t="t" l="l"/>
              <a:pathLst>
                <a:path h="802796" w="3653167">
                  <a:moveTo>
                    <a:pt x="34499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3653167" y="802796"/>
                  </a:lnTo>
                  <a:lnTo>
                    <a:pt x="3449967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34499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523318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100231"/>
            <a:ext cx="6086784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HOW ARE WEBSITES MADE?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619068"/>
            <a:ext cx="10139416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different ways to build websites:</a:t>
            </a:r>
          </a:p>
          <a:p>
            <a:pPr algn="l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scratch (using HTML, CSS, JavaScript)</a:t>
            </a:r>
          </a:p>
          <a:p>
            <a:pPr algn="l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CMS (WordPress, Shopify, Wix)</a:t>
            </a:r>
          </a:p>
          <a:p>
            <a:pPr algn="l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website builders (Webflow, Squarespace)</a:t>
            </a:r>
          </a:p>
          <a:p>
            <a:pPr algn="l" marL="582932" indent="-291466" lvl="1">
              <a:lnSpc>
                <a:spcPts val="3780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Using AI tools (Framer AI, Wix AI)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114925"/>
            <a:ext cx="940817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POPULAR STACKS LIKE MERN/MEAN: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6060" y="6629400"/>
            <a:ext cx="10139416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MERN stack: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MongoDB, Express.js, React.js, Node.js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MEAN stack: 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MongoDB, Express.js, Angular.js, Node.js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LAMP stack: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Linux, Apac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he, MySQL, PHP/Python/Perl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Django stack: 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Django (Python), PostgreSQL/MySQL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Ruby on Rails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Ruby, Rails framework, PostgreSQL/MySQL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Vue.js stack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Vue.js with like Express.js, Node.js, MongoDB</a:t>
            </a:r>
          </a:p>
          <a:p>
            <a:pPr algn="l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JAMstack</a:t>
            </a:r>
            <a:r>
              <a:rPr lang="en-US" sz="27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JavaScript, APIs, Markup (more of an architecture tho)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2703" y="4718295"/>
            <a:ext cx="19769321" cy="5568705"/>
            <a:chOff x="0" y="0"/>
            <a:chExt cx="26359095" cy="742494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8860" r="0" b="28860"/>
            <a:stretch>
              <a:fillRect/>
            </a:stretch>
          </p:blipFill>
          <p:spPr>
            <a:xfrm flipH="false" flipV="false">
              <a:off x="0" y="0"/>
              <a:ext cx="26359095" cy="742494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706839" y="1581697"/>
            <a:ext cx="4907859" cy="18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00"/>
              </a:lnSpc>
            </a:pPr>
            <a:r>
              <a:rPr lang="en-US" b="true" sz="6000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WHY SO MANY STACKS?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75614" y="1524547"/>
            <a:ext cx="11431669" cy="6401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 evolution: New techs emerge, old ones get updated or replaced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Different needs: Projects vary in scale, complexity, goals (e.g., e-commerce vs blog)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 preferences: Devs like different tools, frameworks based on experience, taste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Problem-solving: </a:t>
            </a: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Different stacks solve problems in unique ways (e.g., performance, scalability)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Innovation &amp; competition: Techs compete, innovate, leadin' to more options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Community &amp; ecosystems: Big communities around techs drive growth, support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399828" y="8642094"/>
            <a:ext cx="14038876" cy="3707664"/>
            <a:chOff x="0" y="0"/>
            <a:chExt cx="840196" cy="2218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50968" y="9258300"/>
            <a:ext cx="3959336" cy="1630467"/>
            <a:chOff x="0" y="0"/>
            <a:chExt cx="538839" cy="2218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399828" y="-601767"/>
            <a:ext cx="3959336" cy="1630467"/>
            <a:chOff x="0" y="0"/>
            <a:chExt cx="538839" cy="2218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44106" y="9517530"/>
            <a:ext cx="11424871" cy="769470"/>
            <a:chOff x="0" y="0"/>
            <a:chExt cx="3294642" cy="2218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4642" cy="221896"/>
            </a:xfrm>
            <a:custGeom>
              <a:avLst/>
              <a:gdLst/>
              <a:ahLst/>
              <a:cxnLst/>
              <a:rect r="r" b="b" t="t" l="l"/>
              <a:pathLst>
                <a:path h="221896" w="3294642">
                  <a:moveTo>
                    <a:pt x="3091442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3294642" y="221896"/>
                  </a:lnTo>
                  <a:lnTo>
                    <a:pt x="3091442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3091442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9991209" y="-90072"/>
            <a:ext cx="9649874" cy="1254484"/>
          </a:xfrm>
          <a:custGeom>
            <a:avLst/>
            <a:gdLst/>
            <a:ahLst/>
            <a:cxnLst/>
            <a:rect r="r" b="b" t="t" l="l"/>
            <a:pathLst>
              <a:path h="1254484" w="9649874">
                <a:moveTo>
                  <a:pt x="9649874" y="0"/>
                </a:moveTo>
                <a:lnTo>
                  <a:pt x="0" y="0"/>
                </a:lnTo>
                <a:lnTo>
                  <a:pt x="0" y="1254483"/>
                </a:lnTo>
                <a:lnTo>
                  <a:pt x="9649874" y="1254483"/>
                </a:lnTo>
                <a:lnTo>
                  <a:pt x="96498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25143" y="-530377"/>
            <a:ext cx="10472206" cy="842510"/>
            <a:chOff x="0" y="0"/>
            <a:chExt cx="2758112" cy="221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58112" cy="221896"/>
            </a:xfrm>
            <a:custGeom>
              <a:avLst/>
              <a:gdLst/>
              <a:ahLst/>
              <a:cxnLst/>
              <a:rect r="r" b="b" t="t" l="l"/>
              <a:pathLst>
                <a:path h="221896" w="2758112">
                  <a:moveTo>
                    <a:pt x="2554912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758112" y="221896"/>
                  </a:lnTo>
                  <a:lnTo>
                    <a:pt x="2554912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2554912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3083" y="480020"/>
            <a:ext cx="9987594" cy="500151"/>
            <a:chOff x="0" y="0"/>
            <a:chExt cx="4431069" cy="221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31069" cy="221896"/>
            </a:xfrm>
            <a:custGeom>
              <a:avLst/>
              <a:gdLst/>
              <a:ahLst/>
              <a:cxnLst/>
              <a:rect r="r" b="b" t="t" l="l"/>
              <a:pathLst>
                <a:path h="221896" w="4431069">
                  <a:moveTo>
                    <a:pt x="422786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4431069" y="221896"/>
                  </a:lnTo>
                  <a:lnTo>
                    <a:pt x="4227869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422786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2247428" y="8794494"/>
            <a:ext cx="14038876" cy="3707664"/>
            <a:chOff x="0" y="0"/>
            <a:chExt cx="840196" cy="221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-798568" y="9410700"/>
            <a:ext cx="3959336" cy="1630467"/>
            <a:chOff x="0" y="0"/>
            <a:chExt cx="538839" cy="221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852" y="2437425"/>
            <a:ext cx="10890697" cy="405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JavaScript everywhere: Use JS for frontend (React), backend (Node.js, Express), and DB interactions (MongoDB) – less context switchin'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React's power: React.js is like a beast for buildin' dynamic UIs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Node.js &amp; Express: Fast, efficient for buildin' APIs, handling requests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MongoDB's flexibility: NoSQL DB, schema flexibility, scales well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Full-stack JS: One language for whole stack = easier dev experience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Huge community: Lots of resources, support, packages (npm)</a:t>
            </a:r>
          </a:p>
          <a:p>
            <a:pPr algn="l">
              <a:lnSpc>
                <a:spcPts val="364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5400000">
            <a:off x="14787204" y="5677616"/>
            <a:ext cx="5660507" cy="610196"/>
            <a:chOff x="0" y="0"/>
            <a:chExt cx="7447174" cy="8027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47174" cy="802796"/>
            </a:xfrm>
            <a:custGeom>
              <a:avLst/>
              <a:gdLst/>
              <a:ahLst/>
              <a:cxnLst/>
              <a:rect r="r" b="b" t="t" l="l"/>
              <a:pathLst>
                <a:path h="802796" w="7447174">
                  <a:moveTo>
                    <a:pt x="7243974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7447174" y="802796"/>
                  </a:lnTo>
                  <a:lnTo>
                    <a:pt x="7243974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7243974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10113" y="472545"/>
            <a:ext cx="5370277" cy="9540412"/>
            <a:chOff x="0" y="0"/>
            <a:chExt cx="7160370" cy="1272055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2202" t="0" r="62827" b="0"/>
            <a:stretch>
              <a:fillRect/>
            </a:stretch>
          </p:blipFill>
          <p:spPr>
            <a:xfrm flipH="false" flipV="false">
              <a:off x="0" y="0"/>
              <a:ext cx="7160370" cy="12720550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5400000">
            <a:off x="11619913" y="-8432465"/>
            <a:ext cx="16912758" cy="5633984"/>
            <a:chOff x="0" y="0"/>
            <a:chExt cx="2409929" cy="802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16807212" y="8290279"/>
            <a:ext cx="6538159" cy="5633984"/>
            <a:chOff x="0" y="0"/>
            <a:chExt cx="931634" cy="8027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1634" cy="802796"/>
            </a:xfrm>
            <a:custGeom>
              <a:avLst/>
              <a:gdLst/>
              <a:ahLst/>
              <a:cxnLst/>
              <a:rect r="r" b="b" t="t" l="l"/>
              <a:pathLst>
                <a:path h="802796" w="931634">
                  <a:moveTo>
                    <a:pt x="728434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931634" y="802796"/>
                  </a:lnTo>
                  <a:lnTo>
                    <a:pt x="728434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728434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767519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0" y="9258300"/>
            <a:ext cx="11195301" cy="1455389"/>
          </a:xfrm>
          <a:custGeom>
            <a:avLst/>
            <a:gdLst/>
            <a:ahLst/>
            <a:cxnLst/>
            <a:rect r="r" b="b" t="t" l="l"/>
            <a:pathLst>
              <a:path h="1455389" w="11195301">
                <a:moveTo>
                  <a:pt x="11195301" y="0"/>
                </a:moveTo>
                <a:lnTo>
                  <a:pt x="0" y="0"/>
                </a:lnTo>
                <a:lnTo>
                  <a:pt x="0" y="1455389"/>
                </a:lnTo>
                <a:lnTo>
                  <a:pt x="11195301" y="1455389"/>
                </a:lnTo>
                <a:lnTo>
                  <a:pt x="1119530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28852" y="1370559"/>
            <a:ext cx="9365817" cy="93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WHY CHOOSE MERN STACK?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562800" y="6245707"/>
            <a:ext cx="9365817" cy="184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GOOD FOR: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28852" y="7272152"/>
            <a:ext cx="10890697" cy="198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Buildin' dynamic, fast web apps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Real-time apps (e.g., chat apps)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Apps needin' good UI/UX with React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30514"/>
            <a:ext cx="4823338" cy="5190859"/>
            <a:chOff x="0" y="0"/>
            <a:chExt cx="1270344" cy="136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344" cy="1367140"/>
            </a:xfrm>
            <a:custGeom>
              <a:avLst/>
              <a:gdLst/>
              <a:ahLst/>
              <a:cxnLst/>
              <a:rect r="r" b="b" t="t" l="l"/>
              <a:pathLst>
                <a:path h="1367140" w="1270344">
                  <a:moveTo>
                    <a:pt x="0" y="0"/>
                  </a:moveTo>
                  <a:lnTo>
                    <a:pt x="1270344" y="0"/>
                  </a:lnTo>
                  <a:lnTo>
                    <a:pt x="1270344" y="1367140"/>
                  </a:lnTo>
                  <a:lnTo>
                    <a:pt x="0" y="136714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70344" cy="140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59932" y="3430514"/>
            <a:ext cx="4823338" cy="5190859"/>
            <a:chOff x="0" y="0"/>
            <a:chExt cx="1270344" cy="1367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344" cy="1367140"/>
            </a:xfrm>
            <a:custGeom>
              <a:avLst/>
              <a:gdLst/>
              <a:ahLst/>
              <a:cxnLst/>
              <a:rect r="r" b="b" t="t" l="l"/>
              <a:pathLst>
                <a:path h="1367140" w="1270344">
                  <a:moveTo>
                    <a:pt x="0" y="0"/>
                  </a:moveTo>
                  <a:lnTo>
                    <a:pt x="1270344" y="0"/>
                  </a:lnTo>
                  <a:lnTo>
                    <a:pt x="1270344" y="1367140"/>
                  </a:lnTo>
                  <a:lnTo>
                    <a:pt x="0" y="136714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0344" cy="1405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830818"/>
            <a:ext cx="4823338" cy="1272535"/>
            <a:chOff x="0" y="0"/>
            <a:chExt cx="1270344" cy="3351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344" cy="335153"/>
            </a:xfrm>
            <a:custGeom>
              <a:avLst/>
              <a:gdLst/>
              <a:ahLst/>
              <a:cxnLst/>
              <a:rect r="r" b="b" t="t" l="l"/>
              <a:pathLst>
                <a:path h="335153" w="1270344">
                  <a:moveTo>
                    <a:pt x="0" y="0"/>
                  </a:moveTo>
                  <a:lnTo>
                    <a:pt x="1270344" y="0"/>
                  </a:lnTo>
                  <a:lnTo>
                    <a:pt x="1270344" y="335153"/>
                  </a:lnTo>
                  <a:lnTo>
                    <a:pt x="0" y="335153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0344" cy="373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59932" y="1830818"/>
            <a:ext cx="4823338" cy="1272535"/>
            <a:chOff x="0" y="0"/>
            <a:chExt cx="1270344" cy="3351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0344" cy="335153"/>
            </a:xfrm>
            <a:custGeom>
              <a:avLst/>
              <a:gdLst/>
              <a:ahLst/>
              <a:cxnLst/>
              <a:rect r="r" b="b" t="t" l="l"/>
              <a:pathLst>
                <a:path h="335153" w="1270344">
                  <a:moveTo>
                    <a:pt x="0" y="0"/>
                  </a:moveTo>
                  <a:lnTo>
                    <a:pt x="1270344" y="0"/>
                  </a:lnTo>
                  <a:lnTo>
                    <a:pt x="1270344" y="335153"/>
                  </a:lnTo>
                  <a:lnTo>
                    <a:pt x="0" y="335153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0344" cy="373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482942" y="9258300"/>
            <a:ext cx="14038876" cy="3707664"/>
            <a:chOff x="0" y="0"/>
            <a:chExt cx="840196" cy="221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0196" cy="221896"/>
            </a:xfrm>
            <a:custGeom>
              <a:avLst/>
              <a:gdLst/>
              <a:ahLst/>
              <a:cxnLst/>
              <a:rect r="r" b="b" t="t" l="l"/>
              <a:pathLst>
                <a:path h="221896" w="840196">
                  <a:moveTo>
                    <a:pt x="636996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840196" y="221896"/>
                  </a:lnTo>
                  <a:lnTo>
                    <a:pt x="636996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636996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54834" y="9768001"/>
            <a:ext cx="3959336" cy="1630467"/>
            <a:chOff x="0" y="0"/>
            <a:chExt cx="538839" cy="221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8839" cy="221896"/>
            </a:xfrm>
            <a:custGeom>
              <a:avLst/>
              <a:gdLst/>
              <a:ahLst/>
              <a:cxnLst/>
              <a:rect r="r" b="b" t="t" l="l"/>
              <a:pathLst>
                <a:path h="221896" w="538839">
                  <a:moveTo>
                    <a:pt x="33563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538839" y="221896"/>
                  </a:lnTo>
                  <a:lnTo>
                    <a:pt x="33563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33563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8638126" y="-60593"/>
            <a:ext cx="9649874" cy="1254484"/>
          </a:xfrm>
          <a:custGeom>
            <a:avLst/>
            <a:gdLst/>
            <a:ahLst/>
            <a:cxnLst/>
            <a:rect r="r" b="b" t="t" l="l"/>
            <a:pathLst>
              <a:path h="1254484" w="9649874">
                <a:moveTo>
                  <a:pt x="9649874" y="0"/>
                </a:moveTo>
                <a:lnTo>
                  <a:pt x="0" y="0"/>
                </a:lnTo>
                <a:lnTo>
                  <a:pt x="0" y="1254484"/>
                </a:lnTo>
                <a:lnTo>
                  <a:pt x="9649874" y="1254484"/>
                </a:lnTo>
                <a:lnTo>
                  <a:pt x="96498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178612" y="-491372"/>
            <a:ext cx="2985977" cy="842510"/>
            <a:chOff x="0" y="0"/>
            <a:chExt cx="786430" cy="2218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430" cy="221896"/>
            </a:xfrm>
            <a:custGeom>
              <a:avLst/>
              <a:gdLst/>
              <a:ahLst/>
              <a:cxnLst/>
              <a:rect r="r" b="b" t="t" l="l"/>
              <a:pathLst>
                <a:path h="221896" w="786430">
                  <a:moveTo>
                    <a:pt x="583230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786430" y="221896"/>
                  </a:lnTo>
                  <a:lnTo>
                    <a:pt x="583230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38100"/>
              <a:ext cx="583230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090833" y="528549"/>
            <a:ext cx="2843670" cy="500151"/>
            <a:chOff x="0" y="0"/>
            <a:chExt cx="1261615" cy="221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1615" cy="221896"/>
            </a:xfrm>
            <a:custGeom>
              <a:avLst/>
              <a:gdLst/>
              <a:ahLst/>
              <a:cxnLst/>
              <a:rect r="r" b="b" t="t" l="l"/>
              <a:pathLst>
                <a:path h="221896" w="1261615">
                  <a:moveTo>
                    <a:pt x="1058415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1261615" y="221896"/>
                  </a:lnTo>
                  <a:lnTo>
                    <a:pt x="1058415" y="0"/>
                  </a:lnTo>
                  <a:close/>
                </a:path>
              </a:pathLst>
            </a:custGeom>
            <a:solidFill>
              <a:srgbClr val="12366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1058415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492845" y="1786081"/>
            <a:ext cx="6883163" cy="195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ROLE OF AI IN WEB DEVELOPMENT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26195" y="4058608"/>
            <a:ext cx="10139416" cy="320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 is transforming how we build websites: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Code assistance (GitHub Copilot, ChatGPT)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automation (Framer AI, Figma AI)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writing (AI blog/article tools)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Bug detection, testing, SEO optimization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548264" y="2167015"/>
            <a:ext cx="3976465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EDEDE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STATIC WEBSITE: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14749" y="2192231"/>
            <a:ext cx="4668521" cy="60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EDEDE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DYNAMIC WEBSITE: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6318" y="3354314"/>
            <a:ext cx="4525720" cy="266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Simple pages, content doesn’t change. Built with HTML/CSS.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Example: Portfolio site, Resume site.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75266" y="3433119"/>
            <a:ext cx="4525720" cy="266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 with user input or database.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Example: Facebook, Gmail, E-commerce sites.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629" y="2562114"/>
            <a:ext cx="10854715" cy="7548225"/>
            <a:chOff x="0" y="0"/>
            <a:chExt cx="2858855" cy="198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855" cy="1988010"/>
            </a:xfrm>
            <a:custGeom>
              <a:avLst/>
              <a:gdLst/>
              <a:ahLst/>
              <a:cxnLst/>
              <a:rect r="r" b="b" t="t" l="l"/>
              <a:pathLst>
                <a:path h="1988010" w="2858855">
                  <a:moveTo>
                    <a:pt x="0" y="0"/>
                  </a:moveTo>
                  <a:lnTo>
                    <a:pt x="2858855" y="0"/>
                  </a:lnTo>
                  <a:lnTo>
                    <a:pt x="2858855" y="1988010"/>
                  </a:lnTo>
                  <a:lnTo>
                    <a:pt x="0" y="1988010"/>
                  </a:ln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58855" cy="2026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16455" y="1028700"/>
            <a:ext cx="5633984" cy="8229600"/>
            <a:chOff x="0" y="0"/>
            <a:chExt cx="434721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721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34721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blipFill>
              <a:blip r:embed="rId2"/>
              <a:stretch>
                <a:fillRect l="-133353" t="0" r="-25454" b="-1804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777068" y="-9197016"/>
            <a:ext cx="16912758" cy="5633984"/>
            <a:chOff x="0" y="0"/>
            <a:chExt cx="2409929" cy="8027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9701565" y="-1257455"/>
            <a:ext cx="3429780" cy="1142530"/>
            <a:chOff x="0" y="0"/>
            <a:chExt cx="2409929" cy="8027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802796"/>
            </a:xfrm>
            <a:custGeom>
              <a:avLst/>
              <a:gdLst/>
              <a:ahLst/>
              <a:cxnLst/>
              <a:rect r="r" b="b" t="t" l="l"/>
              <a:pathLst>
                <a:path h="8027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2409929" y="8027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4550655" y="3480538"/>
            <a:ext cx="7056969" cy="1142530"/>
            <a:chOff x="0" y="0"/>
            <a:chExt cx="4958567" cy="8027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8567" cy="802796"/>
            </a:xfrm>
            <a:custGeom>
              <a:avLst/>
              <a:gdLst/>
              <a:ahLst/>
              <a:cxnLst/>
              <a:rect r="r" b="b" t="t" l="l"/>
              <a:pathLst>
                <a:path h="802796" w="4958567">
                  <a:moveTo>
                    <a:pt x="47553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4958567" y="802796"/>
                  </a:lnTo>
                  <a:lnTo>
                    <a:pt x="4755367" y="0"/>
                  </a:lnTo>
                  <a:close/>
                </a:path>
              </a:pathLst>
            </a:custGeom>
            <a:solidFill>
              <a:srgbClr val="3671B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47553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15479569" y="9903486"/>
            <a:ext cx="5199141" cy="1142530"/>
            <a:chOff x="0" y="0"/>
            <a:chExt cx="3653167" cy="8027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3167" cy="802796"/>
            </a:xfrm>
            <a:custGeom>
              <a:avLst/>
              <a:gdLst/>
              <a:ahLst/>
              <a:cxnLst/>
              <a:rect r="r" b="b" t="t" l="l"/>
              <a:pathLst>
                <a:path h="802796" w="3653167">
                  <a:moveTo>
                    <a:pt x="3449967" y="0"/>
                  </a:moveTo>
                  <a:lnTo>
                    <a:pt x="0" y="0"/>
                  </a:lnTo>
                  <a:lnTo>
                    <a:pt x="203200" y="802796"/>
                  </a:lnTo>
                  <a:lnTo>
                    <a:pt x="3653167" y="802796"/>
                  </a:lnTo>
                  <a:lnTo>
                    <a:pt x="3449967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3449967" cy="840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609608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1" y="0"/>
                </a:lnTo>
                <a:lnTo>
                  <a:pt x="3991351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562022"/>
            <a:ext cx="6086784" cy="93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TOOLS WE’LL USE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0206" y="2773796"/>
            <a:ext cx="8381699" cy="276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Code Editor: VS Code and its extensions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Browser: C</a:t>
            </a: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hrome (DevTools) or Edge or Firefox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Design: Figma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Git &amp; GitHub: Version control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AI Tools: ChatGPT, GitHub Copilot, Framer AI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484431"/>
            <a:ext cx="7980693" cy="276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 consistent. Regular practice = success.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Don’t be afraid to ask questions.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Respect everyone’s learning journey.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Submit assignments on time.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Enjoy the process — we’re building the future!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5345659"/>
            <a:ext cx="10238524" cy="93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7538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CLASS RULES &amp; EXPECTATION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6449" y="6563739"/>
            <a:ext cx="10313168" cy="157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9"/>
              </a:lnSpc>
            </a:pPr>
            <a:r>
              <a:rPr lang="en-US" b="true" sz="10299">
                <a:solidFill>
                  <a:srgbClr val="1236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1454078" y="3832558"/>
            <a:ext cx="10731617" cy="2936226"/>
          </a:xfrm>
          <a:custGeom>
            <a:avLst/>
            <a:gdLst/>
            <a:ahLst/>
            <a:cxnLst/>
            <a:rect r="r" b="b" t="t" l="l"/>
            <a:pathLst>
              <a:path h="2936226" w="10731617">
                <a:moveTo>
                  <a:pt x="0" y="0"/>
                </a:moveTo>
                <a:lnTo>
                  <a:pt x="10731618" y="0"/>
                </a:lnTo>
                <a:lnTo>
                  <a:pt x="10731618" y="2936226"/>
                </a:lnTo>
                <a:lnTo>
                  <a:pt x="0" y="293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497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8325" y="9461783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0" y="0"/>
                </a:lnTo>
                <a:lnTo>
                  <a:pt x="3991350" y="419091"/>
                </a:lnTo>
                <a:lnTo>
                  <a:pt x="0" y="4190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-3894256" y="3453078"/>
            <a:ext cx="10731617" cy="2936226"/>
          </a:xfrm>
          <a:custGeom>
            <a:avLst/>
            <a:gdLst/>
            <a:ahLst/>
            <a:cxnLst/>
            <a:rect r="r" b="b" t="t" l="l"/>
            <a:pathLst>
              <a:path h="2936226" w="10731617">
                <a:moveTo>
                  <a:pt x="10731618" y="2936226"/>
                </a:moveTo>
                <a:lnTo>
                  <a:pt x="0" y="2936226"/>
                </a:lnTo>
                <a:lnTo>
                  <a:pt x="0" y="0"/>
                </a:lnTo>
                <a:lnTo>
                  <a:pt x="10731618" y="0"/>
                </a:lnTo>
                <a:lnTo>
                  <a:pt x="10731618" y="293622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4977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50045" y="819154"/>
            <a:ext cx="3991351" cy="419092"/>
          </a:xfrm>
          <a:custGeom>
            <a:avLst/>
            <a:gdLst/>
            <a:ahLst/>
            <a:cxnLst/>
            <a:rect r="r" b="b" t="t" l="l"/>
            <a:pathLst>
              <a:path h="419092" w="3991351">
                <a:moveTo>
                  <a:pt x="0" y="0"/>
                </a:moveTo>
                <a:lnTo>
                  <a:pt x="3991350" y="0"/>
                </a:lnTo>
                <a:lnTo>
                  <a:pt x="3991350" y="419092"/>
                </a:lnTo>
                <a:lnTo>
                  <a:pt x="0" y="41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8363508" y="-6834688"/>
            <a:ext cx="16912758" cy="1557251"/>
            <a:chOff x="0" y="0"/>
            <a:chExt cx="2409929" cy="221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-6984826" y="15349582"/>
            <a:ext cx="16912758" cy="1557251"/>
            <a:chOff x="0" y="0"/>
            <a:chExt cx="2409929" cy="221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9929" cy="221896"/>
            </a:xfrm>
            <a:custGeom>
              <a:avLst/>
              <a:gdLst/>
              <a:ahLst/>
              <a:cxnLst/>
              <a:rect r="r" b="b" t="t" l="l"/>
              <a:pathLst>
                <a:path h="221896" w="2409929">
                  <a:moveTo>
                    <a:pt x="2206729" y="0"/>
                  </a:moveTo>
                  <a:lnTo>
                    <a:pt x="0" y="0"/>
                  </a:lnTo>
                  <a:lnTo>
                    <a:pt x="203200" y="221896"/>
                  </a:lnTo>
                  <a:lnTo>
                    <a:pt x="2409929" y="221896"/>
                  </a:lnTo>
                  <a:lnTo>
                    <a:pt x="2206729" y="0"/>
                  </a:lnTo>
                  <a:close/>
                </a:path>
              </a:pathLst>
            </a:custGeom>
            <a:solidFill>
              <a:srgbClr val="27538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2206729" cy="25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508558" y="8741373"/>
            <a:ext cx="8381699" cy="47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Made By: Bilal Ahmed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20605" y="3145046"/>
            <a:ext cx="8381699" cy="230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Watch a short YouTube video “What is Web Development?”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a front-end developer?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a full-stack developer?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237918" y="2525888"/>
            <a:ext cx="8381699" cy="47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Assignment: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DAGtf-elQws</dc:identifier>
  <dcterms:modified xsi:type="dcterms:W3CDTF">2011-08-01T06:04:30Z</dcterms:modified>
  <cp:revision>1</cp:revision>
  <dc:title>Web Development: From Zero to Hero</dc:title>
</cp:coreProperties>
</file>